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
      <p:font typeface="Maven Pro"/>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MavenPro-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7e33f1ec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7e33f1ec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e33f1ec9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7e33f1ec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e33f1ec9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7e33f1ec9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7e33f1ec9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7e33f1ec9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7e33f1ec9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7e33f1ec9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7e33f1ec9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7e33f1ec9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7e33f1ec9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7e33f1ec9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7e3626ce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7e3626ce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e33f1ec9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7e33f1ec9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1033800" y="1723400"/>
            <a:ext cx="7076400" cy="1872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t>VERTICAL PLAYBOOK</a:t>
            </a:r>
            <a:endParaRPr sz="4800"/>
          </a:p>
        </p:txBody>
      </p:sp>
      <p:sp>
        <p:nvSpPr>
          <p:cNvPr id="278" name="Google Shape;278;p13"/>
          <p:cNvSpPr txBox="1"/>
          <p:nvPr>
            <p:ph idx="1" type="subTitle"/>
          </p:nvPr>
        </p:nvSpPr>
        <p:spPr>
          <a:xfrm>
            <a:off x="2444250" y="3596300"/>
            <a:ext cx="4255500" cy="695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t>LCS ULTIMATE 2026</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643100" y="1635300"/>
            <a:ext cx="5857800" cy="1872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t>OFFENSE</a:t>
            </a:r>
            <a:endParaRPr sz="4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VERTICAL FLOW</a:t>
            </a:r>
            <a:endParaRPr/>
          </a:p>
        </p:txBody>
      </p:sp>
      <p:sp>
        <p:nvSpPr>
          <p:cNvPr id="289" name="Google Shape;289;p1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Initiating cuts come from the back of the stack </a:t>
            </a:r>
            <a:endParaRPr/>
          </a:p>
          <a:p>
            <a:pPr indent="-311150" lvl="0" marL="457200" rtl="0" algn="l">
              <a:spcBef>
                <a:spcPts val="0"/>
              </a:spcBef>
              <a:spcAft>
                <a:spcPts val="0"/>
              </a:spcAft>
              <a:buSzPts val="1300"/>
              <a:buChar char="●"/>
            </a:pPr>
            <a:r>
              <a:rPr lang="en"/>
              <a:t>First look should be under - use a juke or fake deep to get open </a:t>
            </a:r>
            <a:endParaRPr/>
          </a:p>
          <a:p>
            <a:pPr indent="-311150" lvl="0" marL="457200" rtl="0" algn="l">
              <a:spcBef>
                <a:spcPts val="0"/>
              </a:spcBef>
              <a:spcAft>
                <a:spcPts val="0"/>
              </a:spcAft>
              <a:buSzPts val="1300"/>
              <a:buChar char="●"/>
            </a:pPr>
            <a:r>
              <a:rPr lang="en"/>
              <a:t>Clear to middle of the stack (position 3)</a:t>
            </a:r>
            <a:endParaRPr/>
          </a:p>
          <a:p>
            <a:pPr indent="-311150" lvl="0" marL="457200" rtl="0" algn="l">
              <a:spcBef>
                <a:spcPts val="0"/>
              </a:spcBef>
              <a:spcAft>
                <a:spcPts val="0"/>
              </a:spcAft>
              <a:buSzPts val="1300"/>
              <a:buChar char="●"/>
            </a:pPr>
            <a:r>
              <a:rPr lang="en"/>
              <a:t>Stack moves with the play (push back as the disc moves down field) </a:t>
            </a:r>
            <a:endParaRPr/>
          </a:p>
          <a:p>
            <a:pPr indent="-298450" lvl="1" marL="914400" rtl="0" algn="l">
              <a:spcBef>
                <a:spcPts val="0"/>
              </a:spcBef>
              <a:spcAft>
                <a:spcPts val="0"/>
              </a:spcAft>
              <a:buSzPts val="1100"/>
              <a:buChar char="○"/>
            </a:pPr>
            <a:r>
              <a:rPr lang="en"/>
              <a:t>ALWAYS MOVE AS A UNIT!</a:t>
            </a:r>
            <a:endParaRPr/>
          </a:p>
          <a:p>
            <a:pPr indent="-311150" lvl="0" marL="457200" rtl="0" algn="l">
              <a:spcBef>
                <a:spcPts val="0"/>
              </a:spcBef>
              <a:spcAft>
                <a:spcPts val="0"/>
              </a:spcAft>
              <a:buSzPts val="1300"/>
              <a:buChar char="●"/>
            </a:pPr>
            <a:r>
              <a:rPr lang="en"/>
              <a:t>Reset to second handler at stall 4 </a:t>
            </a:r>
            <a:endParaRPr/>
          </a:p>
        </p:txBody>
      </p:sp>
      <p:pic>
        <p:nvPicPr>
          <p:cNvPr id="290" name="Google Shape;290;p15" title="Fusion Plays-5 2.jpeg"/>
          <p:cNvPicPr preferRelativeResize="0"/>
          <p:nvPr/>
        </p:nvPicPr>
        <p:blipFill rotWithShape="1">
          <a:blip r:embed="rId3">
            <a:alphaModFix/>
          </a:blip>
          <a:srcRect b="41329" l="1189" r="70702" t="3669"/>
          <a:stretch/>
        </p:blipFill>
        <p:spPr>
          <a:xfrm>
            <a:off x="1303800" y="1462400"/>
            <a:ext cx="2214774" cy="334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VERTICAL FLOW (BLOBBING)</a:t>
            </a:r>
            <a:endParaRPr/>
          </a:p>
        </p:txBody>
      </p:sp>
      <p:sp>
        <p:nvSpPr>
          <p:cNvPr id="296" name="Google Shape;296;p16"/>
          <p:cNvSpPr txBox="1"/>
          <p:nvPr>
            <p:ph idx="2" type="body"/>
          </p:nvPr>
        </p:nvSpPr>
        <p:spPr>
          <a:xfrm>
            <a:off x="4903650" y="1597875"/>
            <a:ext cx="3430500" cy="32130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
              <a:t>Blobbing happens when the disc is swung between the handlers </a:t>
            </a:r>
            <a:endParaRPr/>
          </a:p>
          <a:p>
            <a:pPr indent="-311150" lvl="0" marL="457200" rtl="0" algn="l">
              <a:spcBef>
                <a:spcPts val="0"/>
              </a:spcBef>
              <a:spcAft>
                <a:spcPts val="0"/>
              </a:spcAft>
              <a:buSzPts val="1300"/>
              <a:buChar char="●"/>
            </a:pPr>
            <a:r>
              <a:rPr lang="en"/>
              <a:t>Blobbing allows for us to make the most open-space on the field as possible </a:t>
            </a:r>
            <a:endParaRPr/>
          </a:p>
          <a:p>
            <a:pPr indent="-311150" lvl="0" marL="457200" rtl="0" algn="l">
              <a:spcBef>
                <a:spcPts val="0"/>
              </a:spcBef>
              <a:spcAft>
                <a:spcPts val="0"/>
              </a:spcAft>
              <a:buSzPts val="1300"/>
              <a:buChar char="●"/>
            </a:pPr>
            <a:r>
              <a:rPr lang="en"/>
              <a:t>Blobbing happens as the disc is being swung, not when it is caught</a:t>
            </a:r>
            <a:endParaRPr/>
          </a:p>
          <a:p>
            <a:pPr indent="-311150" lvl="0" marL="457200" rtl="0" algn="l">
              <a:spcBef>
                <a:spcPts val="0"/>
              </a:spcBef>
              <a:spcAft>
                <a:spcPts val="0"/>
              </a:spcAft>
              <a:buSzPts val="1300"/>
              <a:buChar char="●"/>
            </a:pPr>
            <a:r>
              <a:rPr lang="en"/>
              <a:t>If the disc moves to the home side, the stack blobs to the away side </a:t>
            </a:r>
            <a:endParaRPr/>
          </a:p>
          <a:p>
            <a:pPr indent="-311150" lvl="0" marL="457200" rtl="0" algn="l">
              <a:spcBef>
                <a:spcPts val="0"/>
              </a:spcBef>
              <a:spcAft>
                <a:spcPts val="0"/>
              </a:spcAft>
              <a:buSzPts val="1300"/>
              <a:buChar char="●"/>
            </a:pPr>
            <a:r>
              <a:rPr lang="en"/>
              <a:t>If the disc moves to the away side, the stack blobs to the home side</a:t>
            </a:r>
            <a:endParaRPr/>
          </a:p>
          <a:p>
            <a:pPr indent="0" lvl="0" marL="0" rtl="0" algn="l">
              <a:spcBef>
                <a:spcPts val="1200"/>
              </a:spcBef>
              <a:spcAft>
                <a:spcPts val="1200"/>
              </a:spcAft>
              <a:buNone/>
            </a:pPr>
            <a:r>
              <a:rPr lang="en"/>
              <a:t>*It is critical that the sideline and top of stack calls where to move / what side of the field the disc is moving to*</a:t>
            </a:r>
            <a:endParaRPr/>
          </a:p>
        </p:txBody>
      </p:sp>
      <p:pic>
        <p:nvPicPr>
          <p:cNvPr id="297" name="Google Shape;297;p16" title="Fusion Plays-6 2.jpeg"/>
          <p:cNvPicPr preferRelativeResize="0"/>
          <p:nvPr/>
        </p:nvPicPr>
        <p:blipFill rotWithShape="1">
          <a:blip r:embed="rId3">
            <a:alphaModFix/>
          </a:blip>
          <a:srcRect b="40308" l="2163" r="20324" t="2052"/>
          <a:stretch/>
        </p:blipFill>
        <p:spPr>
          <a:xfrm>
            <a:off x="217525" y="1880825"/>
            <a:ext cx="4611676" cy="2650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WATERFALL (SIDELINE)</a:t>
            </a:r>
            <a:endParaRPr/>
          </a:p>
        </p:txBody>
      </p:sp>
      <p:sp>
        <p:nvSpPr>
          <p:cNvPr id="303" name="Google Shape;303;p17"/>
          <p:cNvSpPr txBox="1"/>
          <p:nvPr>
            <p:ph idx="2" type="body"/>
          </p:nvPr>
        </p:nvSpPr>
        <p:spPr>
          <a:xfrm>
            <a:off x="4832400" y="1152475"/>
            <a:ext cx="3999900" cy="3694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6 players in stack, handler on sideline with disc</a:t>
            </a:r>
            <a:endParaRPr/>
          </a:p>
          <a:p>
            <a:pPr indent="-311150" lvl="0" marL="457200" rtl="0" algn="l">
              <a:spcBef>
                <a:spcPts val="0"/>
              </a:spcBef>
              <a:spcAft>
                <a:spcPts val="0"/>
              </a:spcAft>
              <a:buSzPts val="1300"/>
              <a:buChar char="●"/>
            </a:pPr>
            <a:r>
              <a:rPr b="1" lang="en"/>
              <a:t>First look: </a:t>
            </a:r>
            <a:r>
              <a:rPr lang="en"/>
              <a:t>top of stack </a:t>
            </a:r>
            <a:r>
              <a:rPr lang="en"/>
              <a:t>does a scoop cut up the line - if open, back of stack strikes!</a:t>
            </a:r>
            <a:endParaRPr/>
          </a:p>
          <a:p>
            <a:pPr indent="-298450" lvl="1" marL="914400" rtl="0" algn="l">
              <a:spcBef>
                <a:spcPts val="0"/>
              </a:spcBef>
              <a:spcAft>
                <a:spcPts val="0"/>
              </a:spcAft>
              <a:buSzPts val="1100"/>
              <a:buChar char="○"/>
            </a:pPr>
            <a:r>
              <a:rPr lang="en"/>
              <a:t>Not open, then clear to middle</a:t>
            </a:r>
            <a:endParaRPr/>
          </a:p>
          <a:p>
            <a:pPr indent="-311150" lvl="0" marL="457200" rtl="0" algn="l">
              <a:spcBef>
                <a:spcPts val="0"/>
              </a:spcBef>
              <a:spcAft>
                <a:spcPts val="0"/>
              </a:spcAft>
              <a:buSzPts val="1300"/>
              <a:buChar char="●"/>
            </a:pPr>
            <a:r>
              <a:rPr b="1" lang="en"/>
              <a:t>Second look: </a:t>
            </a:r>
            <a:r>
              <a:rPr lang="en"/>
              <a:t>second in the stack does a T-cut to get either up the line or around </a:t>
            </a:r>
            <a:endParaRPr/>
          </a:p>
          <a:p>
            <a:pPr indent="-311150" lvl="0" marL="457200" rtl="0" algn="l">
              <a:spcBef>
                <a:spcPts val="0"/>
              </a:spcBef>
              <a:spcAft>
                <a:spcPts val="0"/>
              </a:spcAft>
              <a:buSzPts val="1300"/>
              <a:buChar char="●"/>
            </a:pPr>
            <a:r>
              <a:rPr b="1" lang="en"/>
              <a:t>Third look: </a:t>
            </a:r>
            <a:r>
              <a:rPr lang="en"/>
              <a:t>third in the stack cuts straight out backfield for bail out reset </a:t>
            </a:r>
            <a:endParaRPr/>
          </a:p>
          <a:p>
            <a:pPr indent="-311150" lvl="0" marL="457200" rtl="0" algn="l">
              <a:spcBef>
                <a:spcPts val="0"/>
              </a:spcBef>
              <a:spcAft>
                <a:spcPts val="0"/>
              </a:spcAft>
              <a:buSzPts val="1300"/>
              <a:buChar char="●"/>
            </a:pPr>
            <a:r>
              <a:rPr lang="en"/>
              <a:t>On Second or Third look, if disc is received backfield, continuation cut comes from back of the stack to the breakside </a:t>
            </a:r>
            <a:endParaRPr/>
          </a:p>
        </p:txBody>
      </p:sp>
      <p:pic>
        <p:nvPicPr>
          <p:cNvPr id="304" name="Google Shape;304;p17" title="Fusion Plays-7.jpeg"/>
          <p:cNvPicPr preferRelativeResize="0"/>
          <p:nvPr/>
        </p:nvPicPr>
        <p:blipFill rotWithShape="1">
          <a:blip r:embed="rId3">
            <a:alphaModFix/>
          </a:blip>
          <a:srcRect b="41893" l="49882" r="0" t="3217"/>
          <a:stretch/>
        </p:blipFill>
        <p:spPr>
          <a:xfrm>
            <a:off x="614150" y="1418125"/>
            <a:ext cx="3957852" cy="335044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SLICE</a:t>
            </a:r>
            <a:endParaRPr/>
          </a:p>
        </p:txBody>
      </p:sp>
      <p:sp>
        <p:nvSpPr>
          <p:cNvPr id="310" name="Google Shape;310;p18"/>
          <p:cNvSpPr txBox="1"/>
          <p:nvPr>
            <p:ph idx="2" type="body"/>
          </p:nvPr>
        </p:nvSpPr>
        <p:spPr>
          <a:xfrm>
            <a:off x="4832400" y="1152475"/>
            <a:ext cx="3999900" cy="3669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SET UP</a:t>
            </a:r>
            <a:endParaRPr/>
          </a:p>
          <a:p>
            <a:pPr indent="-311150" lvl="0" marL="457200" rtl="0" algn="l">
              <a:spcBef>
                <a:spcPts val="1200"/>
              </a:spcBef>
              <a:spcAft>
                <a:spcPts val="0"/>
              </a:spcAft>
              <a:buSzPts val="1300"/>
              <a:buChar char="●"/>
            </a:pPr>
            <a:r>
              <a:rPr lang="en"/>
              <a:t>5 in the stack, 2 handlers out </a:t>
            </a:r>
            <a:endParaRPr/>
          </a:p>
          <a:p>
            <a:pPr indent="-311150" lvl="0" marL="457200" rtl="0" algn="l">
              <a:spcBef>
                <a:spcPts val="0"/>
              </a:spcBef>
              <a:spcAft>
                <a:spcPts val="0"/>
              </a:spcAft>
              <a:buSzPts val="1300"/>
              <a:buChar char="●"/>
            </a:pPr>
            <a:r>
              <a:rPr lang="en"/>
              <a:t>Striker in position 3</a:t>
            </a:r>
            <a:endParaRPr/>
          </a:p>
          <a:p>
            <a:pPr indent="-311150" lvl="0" marL="457200" rtl="0" algn="l">
              <a:spcBef>
                <a:spcPts val="0"/>
              </a:spcBef>
              <a:spcAft>
                <a:spcPts val="0"/>
              </a:spcAft>
              <a:buSzPts val="1300"/>
              <a:buChar char="●"/>
            </a:pPr>
            <a:r>
              <a:rPr lang="en"/>
              <a:t>Thrower in </a:t>
            </a:r>
            <a:r>
              <a:rPr lang="en"/>
              <a:t>position</a:t>
            </a:r>
            <a:r>
              <a:rPr lang="en"/>
              <a:t> 4</a:t>
            </a:r>
            <a:endParaRPr/>
          </a:p>
          <a:p>
            <a:pPr indent="0" lvl="0" marL="0" rtl="0" algn="l">
              <a:spcBef>
                <a:spcPts val="1200"/>
              </a:spcBef>
              <a:spcAft>
                <a:spcPts val="0"/>
              </a:spcAft>
              <a:buNone/>
            </a:pPr>
            <a:r>
              <a:rPr lang="en"/>
              <a:t>ORDER OF CUTS</a:t>
            </a:r>
            <a:endParaRPr/>
          </a:p>
          <a:p>
            <a:pPr indent="-311150" lvl="0" marL="457200" rtl="0" algn="l">
              <a:spcBef>
                <a:spcPts val="1200"/>
              </a:spcBef>
              <a:spcAft>
                <a:spcPts val="0"/>
              </a:spcAft>
              <a:buSzPts val="1300"/>
              <a:buAutoNum type="arabicPeriod"/>
            </a:pPr>
            <a:r>
              <a:rPr lang="en"/>
              <a:t>Cutter 4 and 5 cut to break side simultaneously, cutter 4 crosses front of stack to receive disc</a:t>
            </a:r>
            <a:endParaRPr/>
          </a:p>
          <a:p>
            <a:pPr indent="-311150" lvl="0" marL="457200" rtl="0" algn="l">
              <a:spcBef>
                <a:spcPts val="0"/>
              </a:spcBef>
              <a:spcAft>
                <a:spcPts val="0"/>
              </a:spcAft>
              <a:buSzPts val="1300"/>
              <a:buAutoNum type="arabicPeriod"/>
            </a:pPr>
            <a:r>
              <a:rPr lang="en"/>
              <a:t>Cutter 3 strikes deep straight from stack as cutter 4 and 5 are completing their cuts </a:t>
            </a:r>
            <a:endParaRPr/>
          </a:p>
          <a:p>
            <a:pPr indent="-311150" lvl="0" marL="457200" rtl="0" algn="l">
              <a:spcBef>
                <a:spcPts val="0"/>
              </a:spcBef>
              <a:spcAft>
                <a:spcPts val="0"/>
              </a:spcAft>
              <a:buSzPts val="1300"/>
              <a:buAutoNum type="arabicPeriod"/>
            </a:pPr>
            <a:r>
              <a:rPr lang="en"/>
              <a:t>Cutter 5 is continuation for cutter 3</a:t>
            </a:r>
            <a:endParaRPr/>
          </a:p>
          <a:p>
            <a:pPr indent="0" lvl="0" marL="0" rtl="0" algn="l">
              <a:spcBef>
                <a:spcPts val="1200"/>
              </a:spcBef>
              <a:spcAft>
                <a:spcPts val="1200"/>
              </a:spcAft>
              <a:buNone/>
            </a:pPr>
            <a:r>
              <a:rPr lang="en"/>
              <a:t>*Deep throw should be thrown so cutter 3 can catch it in motion</a:t>
            </a:r>
            <a:endParaRPr/>
          </a:p>
        </p:txBody>
      </p:sp>
      <p:pic>
        <p:nvPicPr>
          <p:cNvPr id="311" name="Google Shape;311;p18" title="Fusion Plays-7.jpeg"/>
          <p:cNvPicPr preferRelativeResize="0"/>
          <p:nvPr/>
        </p:nvPicPr>
        <p:blipFill rotWithShape="1">
          <a:blip r:embed="rId3">
            <a:alphaModFix/>
          </a:blip>
          <a:srcRect b="41890" l="25069" r="50400" t="4404"/>
          <a:stretch/>
        </p:blipFill>
        <p:spPr>
          <a:xfrm>
            <a:off x="1303800" y="1292400"/>
            <a:ext cx="2085550" cy="35293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FLOOD</a:t>
            </a:r>
            <a:endParaRPr/>
          </a:p>
        </p:txBody>
      </p:sp>
      <p:sp>
        <p:nvSpPr>
          <p:cNvPr id="317" name="Google Shape;317;p19"/>
          <p:cNvSpPr txBox="1"/>
          <p:nvPr>
            <p:ph idx="2" type="body"/>
          </p:nvPr>
        </p:nvSpPr>
        <p:spPr>
          <a:xfrm>
            <a:off x="4832400" y="1152475"/>
            <a:ext cx="3999900" cy="3694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SET UP</a:t>
            </a:r>
            <a:endParaRPr/>
          </a:p>
          <a:p>
            <a:pPr indent="-311150" lvl="0" marL="457200" rtl="0" algn="l">
              <a:spcBef>
                <a:spcPts val="1200"/>
              </a:spcBef>
              <a:spcAft>
                <a:spcPts val="0"/>
              </a:spcAft>
              <a:buSzPts val="1300"/>
              <a:buChar char="●"/>
            </a:pPr>
            <a:r>
              <a:rPr lang="en"/>
              <a:t>5 in the stack, 2 handlers out </a:t>
            </a:r>
            <a:endParaRPr/>
          </a:p>
          <a:p>
            <a:pPr indent="-311150" lvl="0" marL="457200" rtl="0" algn="l">
              <a:spcBef>
                <a:spcPts val="0"/>
              </a:spcBef>
              <a:spcAft>
                <a:spcPts val="0"/>
              </a:spcAft>
              <a:buSzPts val="1300"/>
              <a:buChar char="●"/>
            </a:pPr>
            <a:r>
              <a:rPr lang="en"/>
              <a:t>Thrower in position 5 </a:t>
            </a:r>
            <a:endParaRPr/>
          </a:p>
          <a:p>
            <a:pPr indent="-311150" lvl="0" marL="457200" rtl="0" algn="l">
              <a:spcBef>
                <a:spcPts val="0"/>
              </a:spcBef>
              <a:spcAft>
                <a:spcPts val="0"/>
              </a:spcAft>
              <a:buSzPts val="1300"/>
              <a:buChar char="●"/>
            </a:pPr>
            <a:r>
              <a:rPr lang="en"/>
              <a:t>Striker in position 4</a:t>
            </a:r>
            <a:endParaRPr/>
          </a:p>
          <a:p>
            <a:pPr indent="0" lvl="0" marL="0" rtl="0" algn="l">
              <a:spcBef>
                <a:spcPts val="1200"/>
              </a:spcBef>
              <a:spcAft>
                <a:spcPts val="0"/>
              </a:spcAft>
              <a:buNone/>
            </a:pPr>
            <a:r>
              <a:rPr lang="en"/>
              <a:t>ORDER OF CUTS</a:t>
            </a:r>
            <a:endParaRPr/>
          </a:p>
          <a:p>
            <a:pPr indent="-311150" lvl="0" marL="457200" rtl="0" algn="l">
              <a:spcBef>
                <a:spcPts val="1200"/>
              </a:spcBef>
              <a:spcAft>
                <a:spcPts val="0"/>
              </a:spcAft>
              <a:buSzPts val="1300"/>
              <a:buAutoNum type="arabicPeriod"/>
            </a:pPr>
            <a:r>
              <a:rPr lang="en"/>
              <a:t>Stack (1-4) floods to break side </a:t>
            </a:r>
            <a:endParaRPr/>
          </a:p>
          <a:p>
            <a:pPr indent="-311150" lvl="0" marL="457200" rtl="0" algn="l">
              <a:spcBef>
                <a:spcPts val="0"/>
              </a:spcBef>
              <a:spcAft>
                <a:spcPts val="0"/>
              </a:spcAft>
              <a:buSzPts val="1300"/>
              <a:buAutoNum type="arabicPeriod"/>
            </a:pPr>
            <a:r>
              <a:rPr lang="en"/>
              <a:t>5 fakes the flood with the stack, then cuts under </a:t>
            </a:r>
            <a:endParaRPr/>
          </a:p>
          <a:p>
            <a:pPr indent="-311150" lvl="0" marL="457200" rtl="0" algn="l">
              <a:spcBef>
                <a:spcPts val="0"/>
              </a:spcBef>
              <a:spcAft>
                <a:spcPts val="0"/>
              </a:spcAft>
              <a:buSzPts val="1300"/>
              <a:buAutoNum type="arabicPeriod"/>
            </a:pPr>
            <a:r>
              <a:rPr lang="en"/>
              <a:t>4 floods with the stack initially, then strikes deep for 5 (come under if not there)</a:t>
            </a:r>
            <a:endParaRPr/>
          </a:p>
          <a:p>
            <a:pPr indent="-311150" lvl="0" marL="457200" rtl="0" algn="l">
              <a:spcBef>
                <a:spcPts val="0"/>
              </a:spcBef>
              <a:spcAft>
                <a:spcPts val="0"/>
              </a:spcAft>
              <a:buSzPts val="1300"/>
              <a:buAutoNum type="arabicPeriod"/>
            </a:pPr>
            <a:r>
              <a:rPr lang="en"/>
              <a:t>Stack returns to the middle after first continuation so we can continue the flow</a:t>
            </a:r>
            <a:endParaRPr/>
          </a:p>
          <a:p>
            <a:pPr indent="0" lvl="0" marL="0" rtl="0" algn="l">
              <a:spcBef>
                <a:spcPts val="1200"/>
              </a:spcBef>
              <a:spcAft>
                <a:spcPts val="1200"/>
              </a:spcAft>
              <a:buNone/>
            </a:pPr>
            <a:r>
              <a:rPr lang="en"/>
              <a:t>*We can also call the under cut from a different </a:t>
            </a:r>
            <a:r>
              <a:rPr lang="en"/>
              <a:t>position</a:t>
            </a:r>
            <a:r>
              <a:rPr lang="en"/>
              <a:t> in the stack</a:t>
            </a:r>
            <a:endParaRPr/>
          </a:p>
        </p:txBody>
      </p:sp>
      <p:pic>
        <p:nvPicPr>
          <p:cNvPr id="318" name="Google Shape;318;p19" title="Fusion Plays-7.jpeg"/>
          <p:cNvPicPr preferRelativeResize="0"/>
          <p:nvPr/>
        </p:nvPicPr>
        <p:blipFill rotWithShape="1">
          <a:blip r:embed="rId3">
            <a:alphaModFix/>
          </a:blip>
          <a:srcRect b="42388" l="0" r="74956" t="3607"/>
          <a:stretch/>
        </p:blipFill>
        <p:spPr>
          <a:xfrm>
            <a:off x="1303800" y="1324375"/>
            <a:ext cx="2010051" cy="335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ph type="title"/>
          </p:nvPr>
        </p:nvSpPr>
        <p:spPr>
          <a:xfrm>
            <a:off x="1643100" y="1635300"/>
            <a:ext cx="5857800" cy="1872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t>DEFENSE</a:t>
            </a:r>
            <a:endParaRPr sz="4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Vertical Person-Defense</a:t>
            </a:r>
            <a:endParaRPr/>
          </a:p>
        </p:txBody>
      </p:sp>
      <p:sp>
        <p:nvSpPr>
          <p:cNvPr id="329" name="Google Shape;329;p21"/>
          <p:cNvSpPr txBox="1"/>
          <p:nvPr>
            <p:ph idx="2" type="body"/>
          </p:nvPr>
        </p:nvSpPr>
        <p:spPr>
          <a:xfrm>
            <a:off x="4903800" y="1820988"/>
            <a:ext cx="3430500" cy="25416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b="1" lang="en"/>
              <a:t>Handlers (2) - </a:t>
            </a:r>
            <a:r>
              <a:rPr lang="en"/>
              <a:t>play tight defense, take away easy reset throws </a:t>
            </a:r>
            <a:endParaRPr/>
          </a:p>
          <a:p>
            <a:pPr indent="-298450" lvl="1" marL="914400" rtl="0" algn="l">
              <a:spcBef>
                <a:spcPts val="0"/>
              </a:spcBef>
              <a:spcAft>
                <a:spcPts val="0"/>
              </a:spcAft>
              <a:buSzPts val="1100"/>
              <a:buChar char="○"/>
            </a:pPr>
            <a:r>
              <a:rPr lang="en"/>
              <a:t>Watch for jam cuts in middle and </a:t>
            </a:r>
            <a:r>
              <a:rPr lang="en"/>
              <a:t>berkley's</a:t>
            </a:r>
            <a:r>
              <a:rPr lang="en"/>
              <a:t> on sideline</a:t>
            </a:r>
            <a:endParaRPr/>
          </a:p>
          <a:p>
            <a:pPr indent="-311150" lvl="0" marL="457200" rtl="0" algn="l">
              <a:spcBef>
                <a:spcPts val="0"/>
              </a:spcBef>
              <a:spcAft>
                <a:spcPts val="0"/>
              </a:spcAft>
              <a:buSzPts val="1300"/>
              <a:buChar char="●"/>
            </a:pPr>
            <a:r>
              <a:rPr b="1" lang="en"/>
              <a:t>Back of stack - </a:t>
            </a:r>
            <a:r>
              <a:rPr lang="en"/>
              <a:t>position yourself behind the last player, on the open side. Stay within an arm’s length away</a:t>
            </a:r>
            <a:endParaRPr/>
          </a:p>
          <a:p>
            <a:pPr indent="-311150" lvl="0" marL="457200" rtl="0" algn="l">
              <a:spcBef>
                <a:spcPts val="0"/>
              </a:spcBef>
              <a:spcAft>
                <a:spcPts val="0"/>
              </a:spcAft>
              <a:buSzPts val="1300"/>
              <a:buChar char="●"/>
            </a:pPr>
            <a:r>
              <a:rPr b="1" lang="en"/>
              <a:t>Stack Cutters (1-4) - </a:t>
            </a:r>
            <a:r>
              <a:rPr lang="en"/>
              <a:t>position yourself on the open side where you can see your player and the thrower, stay tight</a:t>
            </a:r>
            <a:endParaRPr/>
          </a:p>
        </p:txBody>
      </p:sp>
      <p:pic>
        <p:nvPicPr>
          <p:cNvPr id="330" name="Google Shape;330;p21" title="Fusion Plays-5 2.jpeg"/>
          <p:cNvPicPr preferRelativeResize="0"/>
          <p:nvPr/>
        </p:nvPicPr>
        <p:blipFill rotWithShape="1">
          <a:blip r:embed="rId3">
            <a:alphaModFix/>
          </a:blip>
          <a:srcRect b="41091" l="32375" r="40466" t="4033"/>
          <a:stretch/>
        </p:blipFill>
        <p:spPr>
          <a:xfrm>
            <a:off x="1407425" y="1369050"/>
            <a:ext cx="2206126" cy="3445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TREE</a:t>
            </a:r>
            <a:endParaRPr/>
          </a:p>
        </p:txBody>
      </p:sp>
      <p:sp>
        <p:nvSpPr>
          <p:cNvPr id="336" name="Google Shape;336;p22"/>
          <p:cNvSpPr txBox="1"/>
          <p:nvPr>
            <p:ph idx="2" type="body"/>
          </p:nvPr>
        </p:nvSpPr>
        <p:spPr>
          <a:xfrm>
            <a:off x="4311600" y="874425"/>
            <a:ext cx="4707600" cy="40473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b="1" lang="en"/>
              <a:t>Covering handlers (2)</a:t>
            </a:r>
            <a:r>
              <a:rPr lang="en"/>
              <a:t> - Person D on handlers, hold the force, prevent easy reset passes</a:t>
            </a:r>
            <a:endParaRPr/>
          </a:p>
          <a:p>
            <a:pPr indent="-311150" lvl="0" marL="457200" rtl="0" algn="l">
              <a:spcBef>
                <a:spcPts val="0"/>
              </a:spcBef>
              <a:spcAft>
                <a:spcPts val="0"/>
              </a:spcAft>
              <a:buSzPts val="1300"/>
              <a:buChar char="●"/>
            </a:pPr>
            <a:r>
              <a:rPr b="1" lang="en"/>
              <a:t>Top - </a:t>
            </a:r>
            <a:r>
              <a:rPr lang="en"/>
              <a:t>Cover top of stack, play straight up and prevent throws into the middle of the stack. If player at the top of the stack cuts to either the break or open side, </a:t>
            </a:r>
            <a:r>
              <a:rPr b="1" lang="en"/>
              <a:t>do not follow</a:t>
            </a:r>
            <a:r>
              <a:rPr lang="en"/>
              <a:t>, that will leave the middle of the stack wide open</a:t>
            </a:r>
            <a:endParaRPr/>
          </a:p>
          <a:p>
            <a:pPr indent="-311150" lvl="0" marL="457200" rtl="0" algn="l">
              <a:spcBef>
                <a:spcPts val="0"/>
              </a:spcBef>
              <a:spcAft>
                <a:spcPts val="0"/>
              </a:spcAft>
              <a:buSzPts val="1300"/>
              <a:buChar char="●"/>
            </a:pPr>
            <a:r>
              <a:rPr b="1" lang="en"/>
              <a:t>Open side (2) - </a:t>
            </a:r>
            <a:r>
              <a:rPr lang="en"/>
              <a:t>Protect open side unders. Lots of communication when passing off or picking up a check</a:t>
            </a:r>
            <a:endParaRPr/>
          </a:p>
          <a:p>
            <a:pPr indent="-311150" lvl="0" marL="457200" rtl="0" algn="l">
              <a:spcBef>
                <a:spcPts val="0"/>
              </a:spcBef>
              <a:spcAft>
                <a:spcPts val="0"/>
              </a:spcAft>
              <a:buSzPts val="1300"/>
              <a:buChar char="●"/>
            </a:pPr>
            <a:r>
              <a:rPr b="1" lang="en"/>
              <a:t>Break side - </a:t>
            </a:r>
            <a:r>
              <a:rPr lang="en"/>
              <a:t>Taking any incoming break side threats to prevent a break-side huck. If 2 players cut your way, try to take away the wider option </a:t>
            </a:r>
            <a:endParaRPr/>
          </a:p>
          <a:p>
            <a:pPr indent="-311150" lvl="0" marL="457200" rtl="0" algn="l">
              <a:spcBef>
                <a:spcPts val="0"/>
              </a:spcBef>
              <a:spcAft>
                <a:spcPts val="0"/>
              </a:spcAft>
              <a:buSzPts val="1300"/>
              <a:buChar char="●"/>
            </a:pPr>
            <a:r>
              <a:rPr b="1" lang="en"/>
              <a:t>Deep - </a:t>
            </a:r>
            <a:r>
              <a:rPr lang="en"/>
              <a:t>pick up any incoming deep threats, communicate lots </a:t>
            </a:r>
            <a:r>
              <a:rPr lang="en"/>
              <a:t>with</a:t>
            </a:r>
            <a:r>
              <a:rPr lang="en"/>
              <a:t> downfield defenders </a:t>
            </a:r>
            <a:endParaRPr/>
          </a:p>
          <a:p>
            <a:pPr indent="-311150" lvl="0" marL="457200" rtl="0" algn="l">
              <a:spcBef>
                <a:spcPts val="0"/>
              </a:spcBef>
              <a:spcAft>
                <a:spcPts val="0"/>
              </a:spcAft>
              <a:buSzPts val="1300"/>
              <a:buChar char="●"/>
            </a:pPr>
            <a:r>
              <a:rPr b="1" lang="en"/>
              <a:t>Picking up - </a:t>
            </a:r>
            <a:r>
              <a:rPr lang="en"/>
              <a:t>this is not a zone! Pick up a player who comes into the area you are taking. As soon as anyone has picked up a player, or 1 pass goes off, call “pick up!” to signal that we are playing person defense </a:t>
            </a:r>
            <a:endParaRPr/>
          </a:p>
        </p:txBody>
      </p:sp>
      <p:pic>
        <p:nvPicPr>
          <p:cNvPr id="337" name="Google Shape;337;p22" title="Fusion Plays-5 2.jpeg"/>
          <p:cNvPicPr preferRelativeResize="0"/>
          <p:nvPr/>
        </p:nvPicPr>
        <p:blipFill rotWithShape="1">
          <a:blip r:embed="rId3">
            <a:alphaModFix/>
          </a:blip>
          <a:srcRect b="40011" l="64211" r="8967" t="4216"/>
          <a:stretch/>
        </p:blipFill>
        <p:spPr>
          <a:xfrm>
            <a:off x="1303796" y="1249627"/>
            <a:ext cx="2245079" cy="36081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