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  <p:embeddedFont>
      <p:font typeface="Maven Pro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55226661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55226661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e361244b3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e361244b3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5522666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5522666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55226661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55226661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55226661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55226661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55226661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55226661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55226661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55226661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55226661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55226661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55226661d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55226661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55226661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55226661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55226661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55226661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55226661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55226661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55226661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55226661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55226661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55226661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55226661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55226661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55226661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55226661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55226661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55226661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55226661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55226661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596600" y="1635300"/>
            <a:ext cx="5950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ZONE PLAYBOOK</a:t>
            </a:r>
            <a:endParaRPr sz="48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2444250" y="35082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LCS ULTIMATE 2026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292275" y="1189925"/>
            <a:ext cx="6435900" cy="23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Cinch Zone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containment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Cinch Zone Positions</a:t>
            </a:r>
            <a:endParaRPr/>
          </a:p>
        </p:txBody>
      </p:sp>
      <p:sp>
        <p:nvSpPr>
          <p:cNvPr id="289" name="Google Shape;289;p15"/>
          <p:cNvSpPr txBox="1"/>
          <p:nvPr>
            <p:ph idx="2" type="body"/>
          </p:nvPr>
        </p:nvSpPr>
        <p:spPr>
          <a:xfrm>
            <a:off x="4094325" y="1113150"/>
            <a:ext cx="4823700" cy="3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highlight>
                  <a:srgbClr val="0098C1"/>
                </a:highlight>
              </a:rPr>
              <a:t>Head</a:t>
            </a:r>
            <a:r>
              <a:rPr lang="en" sz="1100">
                <a:solidFill>
                  <a:schemeClr val="lt1"/>
                </a:solidFill>
              </a:rPr>
              <a:t> </a:t>
            </a:r>
            <a:r>
              <a:rPr lang="en" sz="1100"/>
              <a:t>– Mark thrower flat and count stalls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highlight>
                  <a:srgbClr val="71A201"/>
                </a:highlight>
              </a:rPr>
              <a:t>Ears</a:t>
            </a:r>
            <a:r>
              <a:rPr lang="en" sz="1100"/>
              <a:t> – Create a flat “V” shape with the head – prevent inside throws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 passive when reset handlers are back field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Be aggressive when reset handlers try to gain yards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highlight>
                  <a:srgbClr val="A131AD"/>
                </a:highlight>
              </a:rPr>
              <a:t>Wings</a:t>
            </a:r>
            <a:r>
              <a:rPr lang="en" sz="1100">
                <a:solidFill>
                  <a:schemeClr val="lt1"/>
                </a:solidFill>
              </a:rPr>
              <a:t> </a:t>
            </a:r>
            <a:r>
              <a:rPr lang="en" sz="1100"/>
              <a:t>– Secondary line of defense, prevent upfield continuations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Take the player in your zone, communicate with mid-mid and other wing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Butt to sideline and shoulder checking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highlight>
                  <a:srgbClr val="F59E25"/>
                </a:highlight>
              </a:rPr>
              <a:t>Mid-Mid</a:t>
            </a:r>
            <a:r>
              <a:rPr lang="en" sz="1100"/>
              <a:t> – Prevent breaks through head and ears – move with them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No threats in front of you, then move back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Pass off players to wings as they leave your zone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DO NOT LEAVE THE MIDDLE 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highlight>
                  <a:srgbClr val="064486"/>
                </a:highlight>
              </a:rPr>
              <a:t>Deep </a:t>
            </a:r>
            <a:r>
              <a:rPr lang="en" sz="1100"/>
              <a:t>– Prevent long shots 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Pinch in closer if no one is in your zone</a:t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Communicate to mid-mid and wings any incoming threats</a:t>
            </a:r>
            <a:endParaRPr sz="1100"/>
          </a:p>
        </p:txBody>
      </p:sp>
      <p:pic>
        <p:nvPicPr>
          <p:cNvPr id="290" name="Google Shape;290;p15" title="Fusion Plays-4 3.jpeg"/>
          <p:cNvPicPr preferRelativeResize="0"/>
          <p:nvPr/>
        </p:nvPicPr>
        <p:blipFill rotWithShape="1">
          <a:blip r:embed="rId3">
            <a:alphaModFix/>
          </a:blip>
          <a:srcRect b="41827" l="1182" r="72790" t="2232"/>
          <a:stretch/>
        </p:blipFill>
        <p:spPr>
          <a:xfrm>
            <a:off x="1303800" y="1261738"/>
            <a:ext cx="2201047" cy="365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Cinch Zone: Sideline Trap (Home Side)</a:t>
            </a:r>
            <a:endParaRPr/>
          </a:p>
        </p:txBody>
      </p:sp>
      <p:sp>
        <p:nvSpPr>
          <p:cNvPr id="296" name="Google Shape;296;p16"/>
          <p:cNvSpPr txBox="1"/>
          <p:nvPr>
            <p:ph idx="2" type="body"/>
          </p:nvPr>
        </p:nvSpPr>
        <p:spPr>
          <a:xfrm>
            <a:off x="4903650" y="1597875"/>
            <a:ext cx="3430500" cy="29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98C1"/>
                </a:highlight>
              </a:rPr>
              <a:t>Head</a:t>
            </a:r>
            <a:r>
              <a:rPr lang="en"/>
              <a:t> – Person defense on handler dump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Ear 2</a:t>
            </a:r>
            <a:r>
              <a:rPr lang="en"/>
              <a:t> – Mark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Ear 1</a:t>
            </a:r>
            <a:r>
              <a:rPr lang="en"/>
              <a:t> – Middle of cup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Wing 2</a:t>
            </a:r>
            <a:r>
              <a:rPr lang="en"/>
              <a:t> – Top of cup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59E25"/>
                </a:highlight>
              </a:rPr>
              <a:t>Mid-mid</a:t>
            </a:r>
            <a:r>
              <a:rPr lang="en"/>
              <a:t> – Pinch in to cover holes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Wing 1</a:t>
            </a:r>
            <a:r>
              <a:rPr lang="en"/>
              <a:t> – Pinch in to cover open space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64486"/>
                </a:highlight>
              </a:rPr>
              <a:t>Deep</a:t>
            </a:r>
            <a:r>
              <a:rPr lang="en"/>
              <a:t> – Cover deep space, if no one is in your zone pinch in </a:t>
            </a:r>
            <a:endParaRPr/>
          </a:p>
        </p:txBody>
      </p:sp>
      <p:pic>
        <p:nvPicPr>
          <p:cNvPr id="297" name="Google Shape;297;p16" title="Fusion Plays-4 3.jpeg"/>
          <p:cNvPicPr preferRelativeResize="0"/>
          <p:nvPr/>
        </p:nvPicPr>
        <p:blipFill rotWithShape="1">
          <a:blip r:embed="rId3">
            <a:alphaModFix/>
          </a:blip>
          <a:srcRect b="41884" l="29934" r="42601" t="2449"/>
          <a:stretch/>
        </p:blipFill>
        <p:spPr>
          <a:xfrm>
            <a:off x="1303800" y="1289712"/>
            <a:ext cx="2265948" cy="355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Cinch Zone: Sideline Trap (Away Side)</a:t>
            </a:r>
            <a:endParaRPr/>
          </a:p>
        </p:txBody>
      </p:sp>
      <p:sp>
        <p:nvSpPr>
          <p:cNvPr id="303" name="Google Shape;303;p17"/>
          <p:cNvSpPr txBox="1"/>
          <p:nvPr>
            <p:ph idx="2" type="body"/>
          </p:nvPr>
        </p:nvSpPr>
        <p:spPr>
          <a:xfrm>
            <a:off x="4903650" y="1381825"/>
            <a:ext cx="3430500" cy="33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98C1"/>
                </a:highlight>
              </a:rPr>
              <a:t>Head</a:t>
            </a:r>
            <a:r>
              <a:rPr lang="en"/>
              <a:t> – Person defense on handler dump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Ear 1</a:t>
            </a:r>
            <a:r>
              <a:rPr lang="en"/>
              <a:t> – Mark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Ear 2</a:t>
            </a:r>
            <a:r>
              <a:rPr lang="en"/>
              <a:t> – Middle of cup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Wing 1</a:t>
            </a:r>
            <a:r>
              <a:rPr lang="en"/>
              <a:t> – Top of cup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59E25"/>
                </a:highlight>
              </a:rPr>
              <a:t>Mid-mid</a:t>
            </a:r>
            <a:r>
              <a:rPr lang="en"/>
              <a:t> – Pinch in to cover holes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Wing 2 </a:t>
            </a:r>
            <a:r>
              <a:rPr lang="en"/>
              <a:t>– Pinch in to cover open space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64486"/>
                </a:highlight>
              </a:rPr>
              <a:t>Deep </a:t>
            </a:r>
            <a:r>
              <a:rPr lang="en"/>
              <a:t>– Cover deep space, if no one is in your zone pinch in </a:t>
            </a:r>
            <a:endParaRPr/>
          </a:p>
        </p:txBody>
      </p:sp>
      <p:pic>
        <p:nvPicPr>
          <p:cNvPr id="304" name="Google Shape;304;p17" title="Fusion Plays-4 3.jpeg"/>
          <p:cNvPicPr preferRelativeResize="0"/>
          <p:nvPr/>
        </p:nvPicPr>
        <p:blipFill rotWithShape="1">
          <a:blip r:embed="rId3">
            <a:alphaModFix/>
          </a:blip>
          <a:srcRect b="41094" l="60752" r="12089" t="2842"/>
          <a:stretch/>
        </p:blipFill>
        <p:spPr>
          <a:xfrm>
            <a:off x="1303800" y="1305050"/>
            <a:ext cx="2278723" cy="363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087550" y="1138725"/>
            <a:ext cx="6730200" cy="23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Cup Zone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for windy games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 Zone Positions </a:t>
            </a:r>
            <a:endParaRPr/>
          </a:p>
        </p:txBody>
      </p:sp>
      <p:sp>
        <p:nvSpPr>
          <p:cNvPr id="315" name="Google Shape;315;p19"/>
          <p:cNvSpPr txBox="1"/>
          <p:nvPr>
            <p:ph idx="2" type="body"/>
          </p:nvPr>
        </p:nvSpPr>
        <p:spPr>
          <a:xfrm>
            <a:off x="4572000" y="1300950"/>
            <a:ext cx="37623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98C1"/>
                </a:highlight>
              </a:rPr>
              <a:t>Heel</a:t>
            </a:r>
            <a:r>
              <a:rPr lang="en"/>
              <a:t> – Mark and count stalls – </a:t>
            </a:r>
            <a:r>
              <a:rPr b="1" lang="en"/>
              <a:t>NO BREAKS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Mid</a:t>
            </a:r>
            <a:r>
              <a:rPr lang="en"/>
              <a:t> – Close the gap between you and the mark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Toe</a:t>
            </a:r>
            <a:r>
              <a:rPr lang="en"/>
              <a:t> – Close the gap between you and mid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** HEEL, MID, TOE MOVE AS A UNIT!!!***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FF4FC1"/>
                </a:highlight>
              </a:rPr>
              <a:t>Wings</a:t>
            </a:r>
            <a:r>
              <a:rPr lang="en"/>
              <a:t> – Prevent upfield continuations – </a:t>
            </a:r>
            <a:r>
              <a:rPr b="1" lang="en"/>
              <a:t>DON’T BITE ON BACK FIELD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59E25"/>
                </a:highlight>
              </a:rPr>
              <a:t>Mid-mid</a:t>
            </a:r>
            <a:r>
              <a:rPr lang="en"/>
              <a:t> – Prevent breaks through cup, communicate with cup about “crashes”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64486"/>
                </a:highlight>
              </a:rPr>
              <a:t>Deep</a:t>
            </a:r>
            <a:r>
              <a:rPr lang="en"/>
              <a:t> – Prevent long shots</a:t>
            </a:r>
            <a:endParaRPr/>
          </a:p>
        </p:txBody>
      </p:sp>
      <p:pic>
        <p:nvPicPr>
          <p:cNvPr id="316" name="Google Shape;316;p19" title="Fusion Plays-11.jpeg"/>
          <p:cNvPicPr preferRelativeResize="0"/>
          <p:nvPr/>
        </p:nvPicPr>
        <p:blipFill rotWithShape="1">
          <a:blip r:embed="rId3">
            <a:alphaModFix/>
          </a:blip>
          <a:srcRect b="41490" l="2469" r="70372" t="2450"/>
          <a:stretch/>
        </p:blipFill>
        <p:spPr>
          <a:xfrm>
            <a:off x="1303800" y="1364925"/>
            <a:ext cx="2199931" cy="351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 Zone: Sideline Trap (Home Side)	</a:t>
            </a:r>
            <a:endParaRPr/>
          </a:p>
        </p:txBody>
      </p:sp>
      <p:sp>
        <p:nvSpPr>
          <p:cNvPr id="322" name="Google Shape;322;p20"/>
          <p:cNvSpPr txBox="1"/>
          <p:nvPr>
            <p:ph idx="2" type="body"/>
          </p:nvPr>
        </p:nvSpPr>
        <p:spPr>
          <a:xfrm>
            <a:off x="4572000" y="1305075"/>
            <a:ext cx="42435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098C1"/>
                </a:highlight>
              </a:rPr>
              <a:t>Heel</a:t>
            </a:r>
            <a:r>
              <a:rPr lang="en"/>
              <a:t> – circle reset handler and cut off throwing lane while moving to mark new thrower – mark back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71A201"/>
                </a:highlight>
              </a:rPr>
              <a:t>Mid</a:t>
            </a:r>
            <a:r>
              <a:rPr lang="en"/>
              <a:t> – move wide and close in on cup – close gap between you and heel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A131AD"/>
                </a:highlight>
              </a:rPr>
              <a:t>Toe</a:t>
            </a:r>
            <a:r>
              <a:rPr lang="en"/>
              <a:t> – move wide and close in on cup – close gap between you and mid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FF4FC1"/>
                </a:highlight>
              </a:rPr>
              <a:t>Wing 1</a:t>
            </a:r>
            <a:r>
              <a:rPr lang="en"/>
              <a:t> – take away upfield progression while cup is moving – close off the cup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FF4FC1"/>
                </a:highlight>
              </a:rPr>
              <a:t>Wing 2 </a:t>
            </a:r>
            <a:r>
              <a:rPr lang="en"/>
              <a:t>– move back field to cover resets and person in your zone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59E25"/>
                </a:highlight>
              </a:rPr>
              <a:t>Mid-Mid</a:t>
            </a:r>
            <a:r>
              <a:rPr lang="en"/>
              <a:t> – move towards cup to cover holes – don’t stay too close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  <a:highlight>
                  <a:srgbClr val="064486"/>
                </a:highlight>
              </a:rPr>
              <a:t>Deep</a:t>
            </a:r>
            <a:r>
              <a:rPr lang="en"/>
              <a:t> – move infield and cover player in your zone</a:t>
            </a:r>
            <a:endParaRPr/>
          </a:p>
        </p:txBody>
      </p:sp>
      <p:pic>
        <p:nvPicPr>
          <p:cNvPr id="323" name="Google Shape;323;p20" title="Fusion Plays-11.jpeg"/>
          <p:cNvPicPr preferRelativeResize="0"/>
          <p:nvPr/>
        </p:nvPicPr>
        <p:blipFill rotWithShape="1">
          <a:blip r:embed="rId3">
            <a:alphaModFix/>
          </a:blip>
          <a:srcRect b="42282" l="32677" r="15750" t="2843"/>
          <a:stretch/>
        </p:blipFill>
        <p:spPr>
          <a:xfrm>
            <a:off x="601349" y="1525100"/>
            <a:ext cx="3894098" cy="3202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Cup Zone: Sideline Trap (Away Side)</a:t>
            </a:r>
            <a:endParaRPr/>
          </a:p>
        </p:txBody>
      </p:sp>
      <p:sp>
        <p:nvSpPr>
          <p:cNvPr id="329" name="Google Shape;329;p21"/>
          <p:cNvSpPr txBox="1"/>
          <p:nvPr>
            <p:ph idx="2" type="body"/>
          </p:nvPr>
        </p:nvSpPr>
        <p:spPr>
          <a:xfrm>
            <a:off x="4772450" y="1343450"/>
            <a:ext cx="4132500" cy="35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0098C1"/>
                </a:highlight>
              </a:rPr>
              <a:t>He</a:t>
            </a:r>
            <a:r>
              <a:rPr lang="en" sz="1302">
                <a:solidFill>
                  <a:schemeClr val="lt1"/>
                </a:solidFill>
                <a:highlight>
                  <a:srgbClr val="0098C1"/>
                </a:highlight>
              </a:rPr>
              <a:t>el</a:t>
            </a:r>
            <a:r>
              <a:rPr lang="en" sz="1302"/>
              <a:t> – cut off throwing lane to reset handler while moving to mark new thrower – mark back field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71A201"/>
                </a:highlight>
              </a:rPr>
              <a:t>Mid</a:t>
            </a:r>
            <a:r>
              <a:rPr lang="en" sz="1302"/>
              <a:t> – move wide and close in on cup – close gap between you and heel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A131AD"/>
                </a:highlight>
              </a:rPr>
              <a:t>Toe</a:t>
            </a:r>
            <a:r>
              <a:rPr lang="en" sz="1302"/>
              <a:t> – move wide and close in on cup – close gap between you and mid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FF4FC1"/>
                </a:highlight>
              </a:rPr>
              <a:t>Wing 1</a:t>
            </a:r>
            <a:r>
              <a:rPr lang="en" sz="1302"/>
              <a:t> – move back field to cover resets and take person in your zone 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FF4FC1"/>
                </a:highlight>
              </a:rPr>
              <a:t>Wing 2 </a:t>
            </a:r>
            <a:r>
              <a:rPr lang="en" sz="1302"/>
              <a:t>– take away upfield progression while cup is moving – close off the cup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302">
                <a:highlight>
                  <a:srgbClr val="F59E25"/>
                </a:highlight>
              </a:rPr>
              <a:t>Mid-Mid</a:t>
            </a:r>
            <a:r>
              <a:rPr lang="en" sz="1302"/>
              <a:t> – move towards cup to cover holes – don’t stay too close 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en" sz="1302">
                <a:solidFill>
                  <a:schemeClr val="lt1"/>
                </a:solidFill>
                <a:highlight>
                  <a:srgbClr val="064486"/>
                </a:highlight>
              </a:rPr>
              <a:t>Deep</a:t>
            </a:r>
            <a:r>
              <a:rPr lang="en" sz="1302"/>
              <a:t> – move infield and cover player in your zone</a:t>
            </a:r>
            <a:endParaRPr sz="1302"/>
          </a:p>
        </p:txBody>
      </p:sp>
      <p:pic>
        <p:nvPicPr>
          <p:cNvPr id="330" name="Google Shape;330;p21" title="Fusion Plays-12.jpeg"/>
          <p:cNvPicPr preferRelativeResize="0"/>
          <p:nvPr/>
        </p:nvPicPr>
        <p:blipFill rotWithShape="1">
          <a:blip r:embed="rId3">
            <a:alphaModFix/>
          </a:blip>
          <a:srcRect b="40698" l="2470" r="45959" t="3635"/>
          <a:stretch/>
        </p:blipFill>
        <p:spPr>
          <a:xfrm>
            <a:off x="435025" y="1470663"/>
            <a:ext cx="3927593" cy="327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Zone Offence</a:t>
            </a:r>
            <a:endParaRPr sz="6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Offence Positions</a:t>
            </a:r>
            <a:endParaRPr/>
          </a:p>
        </p:txBody>
      </p:sp>
      <p:sp>
        <p:nvSpPr>
          <p:cNvPr id="341" name="Google Shape;341;p23"/>
          <p:cNvSpPr txBox="1"/>
          <p:nvPr>
            <p:ph idx="2" type="body"/>
          </p:nvPr>
        </p:nvSpPr>
        <p:spPr>
          <a:xfrm>
            <a:off x="3212175" y="1156375"/>
            <a:ext cx="5717700" cy="3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H1/H2 </a:t>
            </a:r>
            <a:r>
              <a:rPr lang="en"/>
              <a:t>– Handlers that remain behind the cup and aim to break the disc over and/or through the cup to P1 or P2. They need to work together and keep moving; 90% of the passes in this system will be between them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P1 </a:t>
            </a:r>
            <a:r>
              <a:rPr lang="en"/>
              <a:t>– </a:t>
            </a:r>
            <a:r>
              <a:rPr lang="en"/>
              <a:t>Player</a:t>
            </a:r>
            <a:r>
              <a:rPr lang="en"/>
              <a:t> that aims to receive a short through/over pass from the handlers. ALso works at drawing members of the cup over to create an opening.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P2 </a:t>
            </a:r>
            <a:r>
              <a:rPr lang="en"/>
              <a:t>– Stays deeper than P1 in order to provide over the top options to handlers. Uses P1 positioning/movement as guide for positioning, identifying the holes that P1 is creating and moving to exploit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 </a:t>
            </a:r>
            <a:r>
              <a:rPr lang="en"/>
              <a:t>– Handler wings stay wide and draw the mids out wide. If they receive the disc they are immediately looking to send it back towards the middle of the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Deep </a:t>
            </a:r>
            <a:r>
              <a:rPr lang="en"/>
              <a:t>– </a:t>
            </a:r>
            <a:r>
              <a:rPr lang="en"/>
              <a:t>Stretch</a:t>
            </a:r>
            <a:r>
              <a:rPr lang="en"/>
              <a:t> the field opening space for the P2 and/or the wings. Set-up to provide an under cut towards the middle of the field any time the P1 or P2 receives the disc</a:t>
            </a:r>
            <a:endParaRPr/>
          </a:p>
        </p:txBody>
      </p:sp>
      <p:pic>
        <p:nvPicPr>
          <p:cNvPr id="342" name="Google Shape;342;p23" title="Fusion Plays-13.jpeg"/>
          <p:cNvPicPr preferRelativeResize="0"/>
          <p:nvPr/>
        </p:nvPicPr>
        <p:blipFill rotWithShape="1">
          <a:blip r:embed="rId3">
            <a:alphaModFix/>
          </a:blip>
          <a:srcRect b="40670" l="4701" r="69596" t="4221"/>
          <a:stretch/>
        </p:blipFill>
        <p:spPr>
          <a:xfrm>
            <a:off x="550175" y="1447075"/>
            <a:ext cx="2149524" cy="3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for Zone Offence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the disc gets to P1/P2 all other downfield players cut towards the receiver to get the next pass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Handlers should rarely throw the disc to the sideline (wings). Should this occur the wings must give the disc back to the handlers </a:t>
            </a:r>
            <a:r>
              <a:rPr b="1" lang="en"/>
              <a:t>IMMEDIATELY </a:t>
            </a:r>
            <a:r>
              <a:rPr lang="en"/>
              <a:t>– don’t even look up field, catch and return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third handler will typically either be in P1 position or one of the wing positions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Zone FAQ</a:t>
            </a:r>
            <a:endParaRPr sz="6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we put on a zone?</a:t>
            </a:r>
            <a:endParaRPr/>
          </a:p>
        </p:txBody>
      </p:sp>
      <p:sp>
        <p:nvSpPr>
          <p:cNvPr id="359" name="Google Shape;359;p26"/>
          <p:cNvSpPr txBox="1"/>
          <p:nvPr>
            <p:ph idx="1" type="body"/>
          </p:nvPr>
        </p:nvSpPr>
        <p:spPr>
          <a:xfrm>
            <a:off x="588550" y="1740100"/>
            <a:ext cx="8086500" cy="27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Zone plays will be called BEFORE the start of a point – usually on the line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D-line will generally run zone’s, O-line will only play defense off of </a:t>
            </a:r>
            <a:r>
              <a:rPr lang="en"/>
              <a:t>turnovers</a:t>
            </a:r>
            <a:r>
              <a:rPr lang="en"/>
              <a:t> so they likely will not put on zones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Zone’s, usually the cup, are used in windy conditions to force throwers to throw into the wind – traps force the thrower to throw the disc out of bounds and the wind generally helps with this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Zone’s can also be used to slow down a play and shake up the offense – the cinch zone is great for this – this zone will usually be put on and held for a certain amount of throws or distance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calls a trap and when do they call it?</a:t>
            </a:r>
            <a:endParaRPr/>
          </a:p>
        </p:txBody>
      </p:sp>
      <p:sp>
        <p:nvSpPr>
          <p:cNvPr id="365" name="Google Shape;365;p27"/>
          <p:cNvSpPr txBox="1"/>
          <p:nvPr>
            <p:ph idx="1" type="body"/>
          </p:nvPr>
        </p:nvSpPr>
        <p:spPr>
          <a:xfrm>
            <a:off x="4324500" y="2050413"/>
            <a:ext cx="40098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a trap whenever the disc is swung from the middle to the first and fourth quarters of the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mark calls the trap </a:t>
            </a:r>
            <a:r>
              <a:rPr b="1" lang="en" u="sng"/>
              <a:t>AS THE DISC IS BEING SWUNG </a:t>
            </a:r>
            <a:endParaRPr b="1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Call “hold” when the disc is thrown near the sideline, and the trap maintains its shape</a:t>
            </a:r>
            <a:endParaRPr/>
          </a:p>
        </p:txBody>
      </p:sp>
      <p:pic>
        <p:nvPicPr>
          <p:cNvPr id="366" name="Google Shape;366;p27" title="Fusion Plays-12 2.jpeg"/>
          <p:cNvPicPr preferRelativeResize="0"/>
          <p:nvPr/>
        </p:nvPicPr>
        <p:blipFill rotWithShape="1">
          <a:blip r:embed="rId3">
            <a:alphaModFix/>
          </a:blip>
          <a:srcRect b="37544" l="61671" r="10865" t="2844"/>
          <a:stretch/>
        </p:blipFill>
        <p:spPr>
          <a:xfrm>
            <a:off x="1303800" y="1223575"/>
            <a:ext cx="2275384" cy="38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do if someone crashes the cup?</a:t>
            </a:r>
            <a:endParaRPr/>
          </a:p>
        </p:txBody>
      </p:sp>
      <p:sp>
        <p:nvSpPr>
          <p:cNvPr id="372" name="Google Shape;372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crash is when a cutter or handler runs through the cup trying to get the disc for a stall count reset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mid-mid or wings should be yelling “crash” when they see someone entering the cup – this </a:t>
            </a:r>
            <a:r>
              <a:rPr lang="en"/>
              <a:t>alerts</a:t>
            </a:r>
            <a:r>
              <a:rPr lang="en"/>
              <a:t> the cup to close in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During this time the whole cup can close in on the person with the disc, as long as there are 2 offensive players in the space – all members of the cup close in which takes away all throw options – this will only be 1-2 stalls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soon as the “crash” leaves the cup you must back up to proper spacing to avoid a double team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we melt?</a:t>
            </a:r>
            <a:endParaRPr/>
          </a:p>
        </p:txBody>
      </p:sp>
      <p:sp>
        <p:nvSpPr>
          <p:cNvPr id="378" name="Google Shape;378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deep should call “melt” when we are </a:t>
            </a:r>
            <a:r>
              <a:rPr b="1" lang="en"/>
              <a:t>still in control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Calling melt when the zone has been broken is </a:t>
            </a:r>
            <a:r>
              <a:rPr b="1" lang="en"/>
              <a:t>too late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of when to call melt: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a certain number of passes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After the disc passes a certain point on the field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When holes start to form in the cup – but BEFORE it has been broken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melt?</a:t>
            </a:r>
            <a:endParaRPr/>
          </a:p>
        </p:txBody>
      </p:sp>
      <p:sp>
        <p:nvSpPr>
          <p:cNvPr id="384" name="Google Shape;384;p3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Cover the deepest threat first!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you hear “melt” everyone should echo it 3 times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Back up and point at the cleats of which player you’re taking – take the person closest to you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notice someone doesn’t have a defender on them, point them out until they are covered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Resume person-defense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break a zone?</a:t>
            </a:r>
            <a:endParaRPr/>
          </a:p>
        </p:txBody>
      </p:sp>
      <p:sp>
        <p:nvSpPr>
          <p:cNvPr id="390" name="Google Shape;390;p31"/>
          <p:cNvSpPr txBox="1"/>
          <p:nvPr>
            <p:ph idx="1" type="body"/>
          </p:nvPr>
        </p:nvSpPr>
        <p:spPr>
          <a:xfrm>
            <a:off x="652525" y="1740100"/>
            <a:ext cx="7920000" cy="29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SWING!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most reliable way to break a zone is to tire out the zone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Swing the disc all the way across the field, home side to away side, this forces the zone to run the length of the field over and over again – this tires them out and creates holes in their spacing – that is when you can attack the upfield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key to breaking a zone is to be calm and not try to rush the point, swing the whole length of the field with the handlers 5 times before attacking up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Poppers and deep should still be actively </a:t>
            </a:r>
            <a:r>
              <a:rPr lang="en"/>
              <a:t>trying</a:t>
            </a:r>
            <a:r>
              <a:rPr lang="en"/>
              <a:t> to get the disc to keep the out-field defenders active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/>
              <a:t>See Zone Offence slide for more details 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